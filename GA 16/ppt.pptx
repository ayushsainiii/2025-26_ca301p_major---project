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itchFamily="2" charset="0"/>
      <p:regular r:id="rId13"/>
    </p:embeddedFont>
    <p:embeddedFont>
      <p:font typeface="Instrument Sans Semi Bold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119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186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02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5DFAC4AE-B55D-13FC-16FA-087930764C96}"/>
              </a:ext>
            </a:extLst>
          </p:cNvPr>
          <p:cNvSpPr txBox="1"/>
          <p:nvPr/>
        </p:nvSpPr>
        <p:spPr>
          <a:xfrm>
            <a:off x="273886" y="348993"/>
            <a:ext cx="14356514" cy="582960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SYNOPSIS Presentation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endParaRPr lang="en-IN" sz="2000" b="1" dirty="0">
              <a:solidFill>
                <a:srgbClr val="1F497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Kiet </a:t>
            </a: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e-B</a:t>
            </a: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azaar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Akanksha Dwivedi 202410116100012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Bhavna Rajput 202410116100049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Session:2025-2026 (III Semester)</a:t>
            </a:r>
            <a:endParaRPr lang="en-IN" sz="2000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 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 the supervision of </a:t>
            </a:r>
            <a:endParaRPr lang="en-IN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Shashank Bharadwaj</a:t>
            </a:r>
            <a:endParaRPr lang="en-IN" sz="2000" b="1" dirty="0">
              <a:solidFill>
                <a:srgbClr val="1F497D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en-IN" sz="2000" b="1" dirty="0">
                <a:solidFill>
                  <a:srgbClr val="1F497D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Applications</a:t>
            </a:r>
          </a:p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IN" sz="2000" b="1" dirty="0">
                <a:solidFill>
                  <a:srgbClr val="1F49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KIET GROUP OF INSTITUTIONS, DELHI-NCR, GHAZIABAD-201206</a:t>
            </a:r>
          </a:p>
        </p:txBody>
      </p:sp>
      <p:pic>
        <p:nvPicPr>
          <p:cNvPr id="7" name="Picture 6" descr="A close-up of a logo&#10;&#10;AI-generated content may be incorrect.">
            <a:extLst>
              <a:ext uri="{FF2B5EF4-FFF2-40B4-BE49-F238E27FC236}">
                <a16:creationId xmlns:a16="http://schemas.microsoft.com/office/drawing/2014/main" id="{48DC02B4-1A9E-669F-DEA5-5FBC82F838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0" y="348993"/>
            <a:ext cx="5066868" cy="18071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89" y="1684015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Overview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89" y="2800444"/>
            <a:ext cx="13042821" cy="1655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KIET e-Bazaar is a purpose-built digital platform aimed at facilitating seamless &amp; secure platform for buying and selling second-hand goods among students and faculties within the KIET campus. </a:t>
            </a: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L="285750" indent="-285750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Our primary goal is to create a structured and accessible system for the exchange of items, addressing the current lack of a centralized marketplace.</a:t>
            </a:r>
          </a:p>
        </p:txBody>
      </p:sp>
      <p:sp>
        <p:nvSpPr>
          <p:cNvPr id="5" name="Text 3"/>
          <p:cNvSpPr/>
          <p:nvPr/>
        </p:nvSpPr>
        <p:spPr>
          <a:xfrm>
            <a:off x="793789" y="50245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Solved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89" y="5492924"/>
            <a:ext cx="6279356" cy="1052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500"/>
              </a:lnSpc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There is a lack of a secure and centralized platform dedicated for the buying and selling of goods amongst the students and faculties at KIET.</a:t>
            </a:r>
          </a:p>
        </p:txBody>
      </p:sp>
      <p:sp>
        <p:nvSpPr>
          <p:cNvPr id="7" name="Text 5"/>
          <p:cNvSpPr/>
          <p:nvPr/>
        </p:nvSpPr>
        <p:spPr>
          <a:xfrm>
            <a:off x="7557254" y="50077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Significance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57254" y="5474734"/>
            <a:ext cx="6279356" cy="20746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This platform gives a tailor-made mechanism to buy and sell goods with ease for its users within the KIET campus thereby fostering sustainability by encouraging reuse. 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</a:rPr>
              <a:t>It also cultivates a vibrant, student-driven internal economy. It's more than just a marketplace; it's a community initiative.</a:t>
            </a:r>
          </a:p>
          <a:p>
            <a:pPr marL="0" indent="0" algn="just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579CD-2903-5646-D1D1-7DF240B1EB95}"/>
              </a:ext>
            </a:extLst>
          </p:cNvPr>
          <p:cNvSpPr txBox="1"/>
          <p:nvPr/>
        </p:nvSpPr>
        <p:spPr>
          <a:xfrm>
            <a:off x="12701239" y="7549376"/>
            <a:ext cx="1817649" cy="6021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197298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Objectives</a:t>
            </a:r>
            <a:endParaRPr lang="en-US" sz="5350" dirty="0"/>
          </a:p>
        </p:txBody>
      </p:sp>
      <p:sp>
        <p:nvSpPr>
          <p:cNvPr id="5" name="Shape 3"/>
          <p:cNvSpPr/>
          <p:nvPr/>
        </p:nvSpPr>
        <p:spPr>
          <a:xfrm>
            <a:off x="793790" y="3731382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91327" y="35949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Facilitate Listing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91327" y="4086129"/>
            <a:ext cx="609981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Enable students and faculties to easily list items for sale, including detailed descriptions and images.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39144" y="3731382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36681" y="359499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Enhance Navigation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736681" y="4086129"/>
            <a:ext cx="609992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Provide a user-friendly and intuitive UI with search and filtering capabilities for buyers to quickly find their desired items.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525442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1327" y="5118043"/>
            <a:ext cx="3311604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Create a secure Environment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091327" y="5609176"/>
            <a:ext cx="609981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a secure environment for the buying and selling of goods only between verified KIET students and faculties.  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439144" y="5254429"/>
            <a:ext cx="99179" cy="99179"/>
          </a:xfrm>
          <a:prstGeom prst="roundRect">
            <a:avLst>
              <a:gd name="adj" fmla="val 460985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36681" y="51180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1E3063"/>
                </a:solidFill>
                <a:latin typeface="Instrument Sans Semi Bold" pitchFamily="34" charset="0"/>
              </a:rPr>
              <a:t>Ensure User Satisfaction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7736681" y="5609176"/>
            <a:ext cx="6099929" cy="93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</a:rPr>
              <a:t>Provide buyers with the ability to negotiate with sellers and arrive at a mutually acceptable price ensuring maximum user satisfaction.</a:t>
            </a:r>
            <a:endParaRPr lang="en-US" sz="15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B4334E-6905-323D-1B24-8C2916EE3E63}"/>
              </a:ext>
            </a:extLst>
          </p:cNvPr>
          <p:cNvSpPr txBox="1"/>
          <p:nvPr/>
        </p:nvSpPr>
        <p:spPr>
          <a:xfrm>
            <a:off x="12901961" y="7627434"/>
            <a:ext cx="1594624" cy="60216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1759506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Scope</a:t>
            </a:r>
            <a:endParaRPr lang="en-US" sz="5350" dirty="0"/>
          </a:p>
        </p:txBody>
      </p:sp>
      <p:sp>
        <p:nvSpPr>
          <p:cNvPr id="5" name="Text 3"/>
          <p:cNvSpPr/>
          <p:nvPr/>
        </p:nvSpPr>
        <p:spPr>
          <a:xfrm>
            <a:off x="793790" y="32900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Inclusions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79855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1550" b="1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authentication &amp; signup: 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login and registration for KIET members.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4534930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1550" b="1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Item listing: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Clear categorization of items in the UI and comprehensive fields for item details (name, price, condition, category).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583544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1550" b="1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&amp; filters: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Advanced options for efficient item discovery.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977557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1550" b="1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Request/offer system: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Functionality for buyers to make offers or inquiries.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3290042"/>
            <a:ext cx="28965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Exclusions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3798558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500"/>
              </a:lnSpc>
              <a:buSzPct val="100000"/>
            </a:pP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3798559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ts val="2500"/>
              </a:lnSpc>
              <a:buSzPct val="100000"/>
              <a:buChar char="•"/>
            </a:pPr>
            <a:r>
              <a:rPr lang="en-US" sz="1550" b="1" u="sng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Payment gateway: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Direct payment processing will not be handled by the platform in this phase; transactions will be arranged directly between users.</a:t>
            </a:r>
            <a:endParaRPr lang="en-US" sz="15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9D6815-ACB8-BF79-65B8-1823EE811A6E}"/>
              </a:ext>
            </a:extLst>
          </p:cNvPr>
          <p:cNvSpPr txBox="1"/>
          <p:nvPr/>
        </p:nvSpPr>
        <p:spPr>
          <a:xfrm>
            <a:off x="12712390" y="7716644"/>
            <a:ext cx="1806498" cy="42374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029778"/>
            <a:ext cx="4531972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Methodology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385357"/>
            <a:ext cx="13280557" cy="666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ts val="2500"/>
              </a:lnSpc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want to ensure flexibility, rapid adaptation to user needs, and efficient problem-solving throughout the project lifecycle. To that end, we will be adopting the </a:t>
            </a:r>
            <a:r>
              <a:rPr lang="en-US" sz="15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Agile Methodology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the development of KIET e-Bazaar, enabling iterative development and continuous feedback cycles.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748492" y="46522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748492" y="5081483"/>
            <a:ext cx="24809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550" dirty="0" err="1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React.js</a:t>
            </a: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HTML, CSS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393847" y="46522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8393847" y="5081483"/>
            <a:ext cx="21801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Node.js, Express.js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748492" y="59136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Database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748492" y="6342831"/>
            <a:ext cx="24809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8393847" y="59136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Version Control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8393847" y="6342831"/>
            <a:ext cx="21801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GitHub</a:t>
            </a:r>
            <a:endParaRPr lang="en-US" sz="15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0400E7-90B3-7C1B-7549-89821556CF23}"/>
              </a:ext>
            </a:extLst>
          </p:cNvPr>
          <p:cNvSpPr txBox="1"/>
          <p:nvPr/>
        </p:nvSpPr>
        <p:spPr>
          <a:xfrm>
            <a:off x="12723541" y="7560527"/>
            <a:ext cx="1806498" cy="63228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20" name="Graphic 19" descr="Illustrator with solid fill">
            <a:extLst>
              <a:ext uri="{FF2B5EF4-FFF2-40B4-BE49-F238E27FC236}">
                <a16:creationId xmlns:a16="http://schemas.microsoft.com/office/drawing/2014/main" id="{B7FC63A5-6835-5555-933F-7A4B037861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4551417"/>
            <a:ext cx="914400" cy="914400"/>
          </a:xfrm>
          <a:prstGeom prst="rect">
            <a:avLst/>
          </a:prstGeom>
        </p:spPr>
      </p:pic>
      <p:pic>
        <p:nvPicPr>
          <p:cNvPr id="22" name="Graphic 21" descr="Single gear with solid fill">
            <a:extLst>
              <a:ext uri="{FF2B5EF4-FFF2-40B4-BE49-F238E27FC236}">
                <a16:creationId xmlns:a16="http://schemas.microsoft.com/office/drawing/2014/main" id="{A45D6C1A-58ED-D028-759E-06F88FDD5E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8847" y="4567960"/>
            <a:ext cx="914400" cy="914400"/>
          </a:xfrm>
          <a:prstGeom prst="rect">
            <a:avLst/>
          </a:prstGeom>
        </p:spPr>
      </p:pic>
      <p:pic>
        <p:nvPicPr>
          <p:cNvPr id="24" name="Graphic 23" descr="Database with solid fill">
            <a:extLst>
              <a:ext uri="{FF2B5EF4-FFF2-40B4-BE49-F238E27FC236}">
                <a16:creationId xmlns:a16="http://schemas.microsoft.com/office/drawing/2014/main" id="{13A21A6E-4BD0-D894-C772-8CC411FE10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829553"/>
            <a:ext cx="914400" cy="914400"/>
          </a:xfrm>
          <a:prstGeom prst="rect">
            <a:avLst/>
          </a:prstGeom>
        </p:spPr>
      </p:pic>
      <p:pic>
        <p:nvPicPr>
          <p:cNvPr id="26" name="Graphic 25" descr="Branching diagram with solid fill">
            <a:extLst>
              <a:ext uri="{FF2B5EF4-FFF2-40B4-BE49-F238E27FC236}">
                <a16:creationId xmlns:a16="http://schemas.microsoft.com/office/drawing/2014/main" id="{7DBB58E6-3397-501F-0DC4-3908BF8E28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1699" y="5829553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966549" y="926757"/>
            <a:ext cx="3558559" cy="607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5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Timeline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66549" y="1965593"/>
            <a:ext cx="13180577" cy="86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Our project timeline is structured to ensure a systematic and efficient development process, culminating in a functional and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well-tested application. The Gantt chart below is meant to illustrate our phased approach: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83275" y="9460706"/>
            <a:ext cx="13663851" cy="19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6-week roadmap allows for focused development and timely delivery, with dedicated phases for crucial steps like testing and incorporating initial user feedback.</a:t>
            </a:r>
            <a:endParaRPr lang="en-US" sz="9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7014A1-3708-03E8-017B-40B07F624442}"/>
              </a:ext>
            </a:extLst>
          </p:cNvPr>
          <p:cNvSpPr txBox="1"/>
          <p:nvPr/>
        </p:nvSpPr>
        <p:spPr>
          <a:xfrm>
            <a:off x="12868507" y="7783551"/>
            <a:ext cx="166153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8" name="Picture 7" descr="gantt_chart.png">
            <a:extLst>
              <a:ext uri="{FF2B5EF4-FFF2-40B4-BE49-F238E27FC236}">
                <a16:creationId xmlns:a16="http://schemas.microsoft.com/office/drawing/2014/main" id="{708CFF0A-069C-4C5C-3C3F-8272B127C1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82" y="2841973"/>
            <a:ext cx="11887036" cy="51729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76989" y="899041"/>
            <a:ext cx="5839182" cy="729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Project Outcome</a:t>
            </a:r>
            <a:endParaRPr lang="en-US" sz="4550" dirty="0"/>
          </a:p>
        </p:txBody>
      </p:sp>
      <p:sp>
        <p:nvSpPr>
          <p:cNvPr id="4" name="Text 2"/>
          <p:cNvSpPr/>
          <p:nvPr/>
        </p:nvSpPr>
        <p:spPr>
          <a:xfrm>
            <a:off x="676989" y="2078474"/>
            <a:ext cx="8138765" cy="729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Upon completion, the KIET e-Bazaar will deliver a tangible and </a:t>
            </a:r>
          </a:p>
          <a:p>
            <a:pPr marL="0" indent="0" algn="just">
              <a:lnSpc>
                <a:spcPts val="21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highly beneficial outcome for the campus community.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6989" y="3183002"/>
            <a:ext cx="3307794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Functional Web Application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69488" y="3909037"/>
            <a:ext cx="7800618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 will launch a fully operational web application serving as the primary marketplace for the campus, accessible from any device.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9488" y="4839120"/>
            <a:ext cx="282833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Enhanced Convenience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69488" y="5579121"/>
            <a:ext cx="7800618" cy="54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will experience unparalleled ease in buying and selling goods, saving time and effort compared to traditional methods.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136" y="2534364"/>
            <a:ext cx="5062776" cy="5062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9489" y="6595480"/>
            <a:ext cx="7800618" cy="729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foundation laid in this phase opens doors for exciting future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enhancements, ensuring the e-Bazaar's long-term relevance and utility.</a:t>
            </a:r>
            <a:endParaRPr lang="en-US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1E4912-CC5D-C332-0079-7CD32AE531CE}"/>
              </a:ext>
            </a:extLst>
          </p:cNvPr>
          <p:cNvSpPr txBox="1"/>
          <p:nvPr/>
        </p:nvSpPr>
        <p:spPr>
          <a:xfrm>
            <a:off x="12712390" y="7738946"/>
            <a:ext cx="1817649" cy="4125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59381" y="1158835"/>
            <a:ext cx="6550104" cy="818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400"/>
              </a:lnSpc>
              <a:buNone/>
            </a:pPr>
            <a:r>
              <a:rPr lang="en-US" sz="51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Future Expansion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759381" y="2262188"/>
            <a:ext cx="13111639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While our initial phase is focused on core functionalities, we have thought of several exciting avenues for future expansion: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59381" y="3368040"/>
            <a:ext cx="6460927" cy="1705332"/>
          </a:xfrm>
          <a:prstGeom prst="roundRect">
            <a:avLst>
              <a:gd name="adj" fmla="val 64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59381" y="3345180"/>
            <a:ext cx="6460927" cy="91440"/>
          </a:xfrm>
          <a:prstGeom prst="roundRect">
            <a:avLst>
              <a:gd name="adj" fmla="val 18687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05046" y="3083362"/>
            <a:ext cx="569476" cy="569476"/>
          </a:xfrm>
          <a:prstGeom prst="roundRect">
            <a:avLst>
              <a:gd name="adj" fmla="val 16056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75901" y="3225641"/>
            <a:ext cx="227767" cy="284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72026" y="3842623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Mobile Application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972026" y="4253032"/>
            <a:ext cx="6035635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Developing a dedicated mobile app for both Android and iOS to enhance accessibility and user experience on the go.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410093" y="3368040"/>
            <a:ext cx="6460927" cy="1705332"/>
          </a:xfrm>
          <a:prstGeom prst="roundRect">
            <a:avLst>
              <a:gd name="adj" fmla="val 643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10093" y="3345180"/>
            <a:ext cx="6460927" cy="91440"/>
          </a:xfrm>
          <a:prstGeom prst="roundRect">
            <a:avLst>
              <a:gd name="adj" fmla="val 18687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355759" y="3083362"/>
            <a:ext cx="569476" cy="569476"/>
          </a:xfrm>
          <a:prstGeom prst="roundRect">
            <a:avLst>
              <a:gd name="adj" fmla="val 16056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26613" y="3225760"/>
            <a:ext cx="22776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622738" y="3842623"/>
            <a:ext cx="2373154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Payment Integration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622738" y="4253031"/>
            <a:ext cx="6035635" cy="962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Integrating secure payment gateways to streamline transactions directly within the platform, offering greater convenience and safety.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9381" y="5547836"/>
            <a:ext cx="6460927" cy="2009180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59381" y="5524976"/>
            <a:ext cx="6460927" cy="91440"/>
          </a:xfrm>
          <a:prstGeom prst="roundRect">
            <a:avLst>
              <a:gd name="adj" fmla="val 18687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705046" y="5263158"/>
            <a:ext cx="569476" cy="569476"/>
          </a:xfrm>
          <a:prstGeom prst="roundRect">
            <a:avLst>
              <a:gd name="adj" fmla="val 16056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75901" y="5405557"/>
            <a:ext cx="22776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72026" y="6022419"/>
            <a:ext cx="2538293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KIET Portal Integration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972026" y="6432828"/>
            <a:ext cx="6035635" cy="661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Seamlessly linking with the official KIET portal for improved user authentication and community access.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10093" y="5616416"/>
            <a:ext cx="6460927" cy="1940600"/>
          </a:xfrm>
          <a:prstGeom prst="roundRect">
            <a:avLst>
              <a:gd name="adj" fmla="val 546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410093" y="5524976"/>
            <a:ext cx="6460927" cy="91440"/>
          </a:xfrm>
          <a:prstGeom prst="roundRect">
            <a:avLst>
              <a:gd name="adj" fmla="val 186870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355759" y="5263158"/>
            <a:ext cx="569476" cy="569476"/>
          </a:xfrm>
          <a:prstGeom prst="roundRect">
            <a:avLst>
              <a:gd name="adj" fmla="val 160569"/>
            </a:avLst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526613" y="5405557"/>
            <a:ext cx="227767" cy="28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7622738" y="6022419"/>
            <a:ext cx="2399347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AI Recommendations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622738" y="6432828"/>
            <a:ext cx="6035635" cy="911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Implementing AI-powered recommendation systems to personalize user feeds and suggest relevant items based on browsing history and preferences.</a:t>
            </a:r>
            <a:endParaRPr 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4C03C37-446A-2D7B-B156-05EC16D16016}"/>
              </a:ext>
            </a:extLst>
          </p:cNvPr>
          <p:cNvSpPr txBox="1"/>
          <p:nvPr/>
        </p:nvSpPr>
        <p:spPr>
          <a:xfrm>
            <a:off x="12812751" y="7557016"/>
            <a:ext cx="1694986" cy="60019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790" y="2264212"/>
            <a:ext cx="6847284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</a:t>
            </a:r>
            <a:endParaRPr lang="en-US" sz="5350" dirty="0"/>
          </a:p>
        </p:txBody>
      </p:sp>
      <p:sp>
        <p:nvSpPr>
          <p:cNvPr id="4" name="Text 2"/>
          <p:cNvSpPr/>
          <p:nvPr/>
        </p:nvSpPr>
        <p:spPr>
          <a:xfrm>
            <a:off x="793790" y="341768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KIET e-Bazaar project stands as a testament to our commitment to innovation and community enrichment. We have successfully outlined and are on track to deliver a functional, convenient, and sustainable marketplace for the KIET campus.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1446" y="4573667"/>
            <a:ext cx="12745164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"We are confident that KIET e-Bazaar will become an indispensable tool, fostering a stronger, more connected, and resource-efficient community at KIET."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93790" y="4276011"/>
            <a:ext cx="22860" cy="1339453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3790" y="583870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platform not only solves an existing problem but also lays the groundwork for a more integrated digital campus experience in the future. We are excited about the positive impact this project will have on the daily lives of students and faculty.</a:t>
            </a:r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4398F9-477B-1DE1-61EB-C83612025C1B}"/>
              </a:ext>
            </a:extLst>
          </p:cNvPr>
          <p:cNvSpPr txBox="1"/>
          <p:nvPr/>
        </p:nvSpPr>
        <p:spPr>
          <a:xfrm>
            <a:off x="12667785" y="7605132"/>
            <a:ext cx="1851103" cy="52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484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53389" y="3601403"/>
            <a:ext cx="9923621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0"/>
              </a:lnSpc>
              <a:buNone/>
            </a:pPr>
            <a:r>
              <a:rPr lang="en-US" sz="7800" dirty="0">
                <a:solidFill>
                  <a:srgbClr val="84C1FA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Thank You!</a:t>
            </a:r>
            <a:endParaRPr lang="en-US" sz="7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30A4F-088B-C3A9-DD1C-C479622BAC17}"/>
              </a:ext>
            </a:extLst>
          </p:cNvPr>
          <p:cNvSpPr txBox="1"/>
          <p:nvPr/>
        </p:nvSpPr>
        <p:spPr>
          <a:xfrm>
            <a:off x="12745844" y="7605132"/>
            <a:ext cx="1784195" cy="5464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806</Words>
  <Application>Microsoft Macintosh PowerPoint</Application>
  <PresentationFormat>Custom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Instrument Sans Medium</vt:lpstr>
      <vt:lpstr>Arial</vt:lpstr>
      <vt:lpstr>Times New Roman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vishal chaturvedi</dc:creator>
  <cp:lastModifiedBy>Sidharth Saxena</cp:lastModifiedBy>
  <cp:revision>7</cp:revision>
  <dcterms:created xsi:type="dcterms:W3CDTF">2025-08-18T17:31:57Z</dcterms:created>
  <dcterms:modified xsi:type="dcterms:W3CDTF">2025-08-20T07:20:53Z</dcterms:modified>
</cp:coreProperties>
</file>